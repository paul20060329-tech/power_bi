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2159F68-B023-47BB-A990-E1EE38509573}">
          <p14:sldIdLst>
            <p14:sldId id="260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66" d="100"/>
          <a:sy n="66" d="100"/>
        </p:scale>
        <p:origin x="111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85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24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088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194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893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57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709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31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091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325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683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9619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67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8206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771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643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12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7991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3891D-9F63-00A9-DF2C-A0EDD626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22363"/>
            <a:ext cx="10668000" cy="2387600"/>
          </a:xfrm>
        </p:spPr>
        <p:txBody>
          <a:bodyPr/>
          <a:lstStyle/>
          <a:p>
            <a:r>
              <a:rPr lang="en-US" altLang="zh-CN" dirty="0"/>
              <a:t>Based </a:t>
            </a:r>
            <a:r>
              <a:rPr lang="en-US" altLang="zh-CN" dirty="0" err="1"/>
              <a:t>power_bi</a:t>
            </a:r>
            <a:r>
              <a:rPr lang="en-US" altLang="zh-CN" dirty="0"/>
              <a:t> in </a:t>
            </a:r>
            <a:r>
              <a:rPr lang="en-US" altLang="zh-CN" dirty="0" err="1">
                <a:solidFill>
                  <a:schemeClr val="accent2"/>
                </a:solidFill>
              </a:rPr>
              <a:t>blinkit_indian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A6CF55-E879-55F7-7452-A778EE0FE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7401"/>
            <a:ext cx="9144000" cy="641614"/>
          </a:xfrm>
        </p:spPr>
        <p:txBody>
          <a:bodyPr>
            <a:normAutofit/>
          </a:bodyPr>
          <a:lstStyle/>
          <a:p>
            <a:r>
              <a:rPr lang="en-US" altLang="zh-CN" sz="3600" dirty="0" err="1"/>
              <a:t>writer:paul_yang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2186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Blinkit's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00FFFF"/>
                </a:highlight>
              </a:rPr>
              <a:t>sales performance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00FFFF"/>
                </a:highlight>
              </a:rPr>
              <a:t>customer satisfaction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00FFFF"/>
                </a:highlight>
              </a:rPr>
              <a:t>inventory distribution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identify key insights and opportunities for optimization using various KPIs and visualizations in Power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利用</a:t>
            </a:r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</a:rPr>
              <a:t>Power BI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中的各类关键绩效指标与可视化图表，对</a:t>
            </a:r>
            <a:r>
              <a:rPr lang="en-US" altLang="zh-CN" b="1" dirty="0" err="1">
                <a:solidFill>
                  <a:schemeClr val="accent6">
                    <a:lumMod val="50000"/>
                  </a:schemeClr>
                </a:solidFill>
              </a:rPr>
              <a:t>Blinkit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平台的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销售业绩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、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客户满意度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及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库存分布情况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开展综合分析，挖掘核心业务洞察与优化机遇。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86265" y="3303984"/>
            <a:ext cx="7676094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Key Performance Indicator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）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4101309-155F-887C-EE82-E968AC3F7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415842"/>
              </p:ext>
            </p:extLst>
          </p:nvPr>
        </p:nvGraphicFramePr>
        <p:xfrm>
          <a:off x="253469" y="3943766"/>
          <a:ext cx="11819997" cy="267293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6833492">
                  <a:extLst>
                    <a:ext uri="{9D8B030D-6E8A-4147-A177-3AD203B41FA5}">
                      <a16:colId xmlns:a16="http://schemas.microsoft.com/office/drawing/2014/main" val="30963197"/>
                    </a:ext>
                  </a:extLst>
                </a:gridCol>
                <a:gridCol w="4986505">
                  <a:extLst>
                    <a:ext uri="{9D8B030D-6E8A-4147-A177-3AD203B41FA5}">
                      <a16:colId xmlns:a16="http://schemas.microsoft.com/office/drawing/2014/main" val="1774168818"/>
                    </a:ext>
                  </a:extLst>
                </a:gridCol>
              </a:tblGrid>
              <a:tr h="6793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Total Sales</a:t>
                      </a:r>
                      <a:r>
                        <a:rPr kumimoji="0" lang="en-US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: The overall revenue generated from all items sold.</a:t>
                      </a:r>
                      <a:endParaRPr kumimoji="0" lang="en-US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zh-CN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总销售额：所有售出商品产生的整体收入。</a:t>
                      </a:r>
                      <a:endPara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92590"/>
                  </a:ext>
                </a:extLst>
              </a:tr>
              <a:tr h="6793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Average Sales</a:t>
                      </a:r>
                      <a:r>
                        <a:rPr kumimoji="0" lang="en-US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: The average revenue per sale.</a:t>
                      </a:r>
                      <a:endParaRPr kumimoji="0" lang="en-US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zh-CN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平均销售额：每笔销售的平均收入。</a:t>
                      </a:r>
                      <a:endPara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92459"/>
                  </a:ext>
                </a:extLst>
              </a:tr>
              <a:tr h="6793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Number of Items</a:t>
                      </a:r>
                      <a:r>
                        <a:rPr kumimoji="0" lang="en-US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: The total count of different items sold.</a:t>
                      </a:r>
                      <a:endParaRPr kumimoji="0" lang="en-US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zh-CN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商品数量：售出不同商品的总数量。</a:t>
                      </a:r>
                      <a:endPara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424016"/>
                  </a:ext>
                </a:extLst>
              </a:tr>
              <a:tr h="6348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Average Rating</a:t>
                      </a:r>
                      <a:r>
                        <a:rPr kumimoji="0" lang="en-US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: The average customer rating for items sold. </a:t>
                      </a:r>
                      <a:endParaRPr kumimoji="0" lang="en-US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zh-CN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平均评分：售出商品的顾客平均评分。</a:t>
                      </a:r>
                      <a:endParaRPr kumimoji="0" lang="en-US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3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152452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735859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7E52E8F-018D-1FE0-51C9-9CB2657B5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98047"/>
              </p:ext>
            </p:extLst>
          </p:nvPr>
        </p:nvGraphicFramePr>
        <p:xfrm>
          <a:off x="165099" y="1319266"/>
          <a:ext cx="11612034" cy="53314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806017">
                  <a:extLst>
                    <a:ext uri="{9D8B030D-6E8A-4147-A177-3AD203B41FA5}">
                      <a16:colId xmlns:a16="http://schemas.microsoft.com/office/drawing/2014/main" val="2549746122"/>
                    </a:ext>
                  </a:extLst>
                </a:gridCol>
                <a:gridCol w="5806017">
                  <a:extLst>
                    <a:ext uri="{9D8B030D-6E8A-4147-A177-3AD203B41FA5}">
                      <a16:colId xmlns:a16="http://schemas.microsoft.com/office/drawing/2014/main" val="2946289542"/>
                    </a:ext>
                  </a:extLst>
                </a:gridCol>
              </a:tblGrid>
              <a:tr h="4802875">
                <a:tc>
                  <a:txBody>
                    <a:bodyPr/>
                    <a:lstStyle/>
                    <a:p>
                      <a:pPr marR="0" lvl="0" algn="l" defTabSz="914400" rtl="0" eaLnBrk="0" fontAlgn="base" latinLnBrk="0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1. Total Sales by Fat Content</a:t>
                      </a:r>
                      <a:r>
                        <a:rPr kumimoji="0" lang="en-US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</a:p>
                    <a:p>
                      <a:pPr marR="0" lvl="0" algn="l" defTabSz="914400" rtl="0" eaLnBrk="0" fontAlgn="base" latinLnBrk="0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   Objective: Analyze the impact of fat content on total sales.</a:t>
                      </a:r>
                    </a:p>
                    <a:p>
                      <a:pPr marR="0" lvl="0" algn="l" defTabSz="914400" rtl="0" eaLnBrk="0" fontAlgn="base" latinLnBrk="0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   Additional KPI Metrics: Assess how other KPIs (Average Sales,   Number of Items, Average Rating) vary with fat content.</a:t>
                      </a:r>
                    </a:p>
                    <a:p>
                      <a:pPr marR="0" lvl="0" algn="l" defTabSz="914400" rtl="0" eaLnBrk="0" fontAlgn="base" latinLnBrk="0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2. Total Sales by Item Type</a:t>
                      </a:r>
                      <a:r>
                        <a:rPr kumimoji="0" lang="en-US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  Objective: Identify the performance of different item types in terms of total sales.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   Additional KPI Metrics: Assess how other KPIs (Average Sales, Number of Items, Average Rating) vary with fat content.</a:t>
                      </a:r>
                      <a:endParaRPr lang="en-US" altLang="en-US" sz="14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R="0" lvl="0" algn="l" defTabSz="914400" rtl="0" eaLnBrk="0" fontAlgn="base" latinLnBrk="0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3. Fat Content by Outlet for Total Sales</a:t>
                      </a:r>
                      <a:r>
                        <a:rPr kumimoji="0" lang="en-US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</a:p>
                    <a:p>
                      <a:pPr marR="0" lvl="0"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lang="en-US" alt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  Objective: Compare total sales across different outlets segmented by fat content.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   Additional KPI Metrics: Assess how other KPIs (Average Sales, Number of Items, Average Rating) vary with fat content.</a:t>
                      </a:r>
                      <a:endParaRPr lang="en-US" altLang="en-US" sz="14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R="0" lvl="0"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4. Total Sales by Outlet Establishment</a:t>
                      </a:r>
                      <a:r>
                        <a:rPr kumimoji="0" lang="en-US" alt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</a:p>
                    <a:p>
                      <a:pPr marR="0" lvl="0"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tabLst/>
                      </a:pPr>
                      <a:r>
                        <a:rPr lang="en-US" alt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  Objective: Evaluate how the age or type of outlet establishment influences total sales.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dirty="0"/>
                        <a:t>1. 按脂肪含量划分的总销售额：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  分析目标：剖析脂肪含量对总销售额的影响。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   其他关键绩效指标：评估平均销售额、商品数量、平均评分等其他关键绩效指标随脂肪含量的变化情况。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dirty="0"/>
                        <a:t>2. 按商品类型划分的总销售额：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2300"/>
                        </a:lnSpc>
                      </a:pPr>
                      <a:r>
                        <a:rPr lang="zh-CN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   </a:t>
                      </a: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分析目标：明确不同商品类型在总销售额维度的表现情况。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2300"/>
                        </a:lnSpc>
                      </a:pP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其他关键绩效指标：评估平均销售额、商品数量、平均评分等其他关键绩效指标随脂肪含量的变化情况。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dirty="0"/>
                        <a:t>3. 各门店脂肪含量对应的总销售额：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2300"/>
                        </a:lnSpc>
                      </a:pPr>
                      <a:r>
                        <a:rPr lang="zh-CN" altLang="en-US" sz="1800" dirty="0"/>
                        <a:t>    </a:t>
                      </a: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分析目标：按脂肪含量分类，对比不同门店的总销售额水平。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2300"/>
                        </a:lnSpc>
                      </a:pP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其他关键绩效指标：评估平均销售额、商品数量、平均评分等其他关键绩效指标随脂肪含量的变化情况。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dirty="0"/>
                        <a:t>4. 按门店开业属性划分的总销售额：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2300"/>
                        </a:lnSpc>
                      </a:pPr>
                      <a:r>
                        <a:rPr lang="zh-CN" altLang="en-US" sz="1800" dirty="0"/>
                        <a:t>    </a:t>
                      </a: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分析目标：评估门店经营年限或门店类型对总销售额的影响程度。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997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0F9867-0F6E-2D90-FB28-90008D93F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28598"/>
              </p:ext>
            </p:extLst>
          </p:nvPr>
        </p:nvGraphicFramePr>
        <p:xfrm>
          <a:off x="172965" y="2159000"/>
          <a:ext cx="11846070" cy="44365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23035">
                  <a:extLst>
                    <a:ext uri="{9D8B030D-6E8A-4147-A177-3AD203B41FA5}">
                      <a16:colId xmlns:a16="http://schemas.microsoft.com/office/drawing/2014/main" val="35079774"/>
                    </a:ext>
                  </a:extLst>
                </a:gridCol>
                <a:gridCol w="5923035">
                  <a:extLst>
                    <a:ext uri="{9D8B030D-6E8A-4147-A177-3AD203B41FA5}">
                      <a16:colId xmlns:a16="http://schemas.microsoft.com/office/drawing/2014/main" val="2999381700"/>
                    </a:ext>
                  </a:extLst>
                </a:gridCol>
              </a:tblGrid>
              <a:tr h="4436533">
                <a:tc>
                  <a:txBody>
                    <a:bodyPr/>
                    <a:lstStyle/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 b="1" dirty="0">
                          <a:latin typeface="Arial" panose="020B0604020202020204" pitchFamily="34" charset="0"/>
                        </a:rPr>
                        <a:t>5. Percentage of Sales by Outlet Size: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  Objective: Analyze the correlation between outlet size and total sales.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 b="1" dirty="0">
                          <a:latin typeface="Arial" panose="020B0604020202020204" pitchFamily="34" charset="0"/>
                        </a:rPr>
                        <a:t>6. Sales by Outlet Location: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  Objective: Assess the geographic distribution of sales across different locations.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 b="1" dirty="0">
                          <a:latin typeface="Arial" panose="020B0604020202020204" pitchFamily="34" charset="0"/>
                        </a:rPr>
                        <a:t>7. All Metrics by Outlet Type: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  Objective: Provide a comprehensive view of all key metrics (Total Sales, Average Sales, Number of Items, Average Rating) broken down by different outlet types.</a:t>
                      </a:r>
                    </a:p>
                    <a:p>
                      <a:pPr eaLnBrk="0" fontAlgn="base" hangingPunct="0">
                        <a:lnSpc>
                          <a:spcPts val="2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en-US" sz="1200" b="1" dirty="0">
                        <a:latin typeface="Arial" panose="020B0604020202020204" pitchFamily="34" charset="0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 门店规模销售额占比：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2300"/>
                        </a:lnSpc>
                      </a:pP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   </a:t>
                      </a: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目标：分析门店规模与总销售额之间的相关性。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 门店位置销售额：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2300"/>
                        </a:lnSpc>
                      </a:pP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   </a:t>
                      </a: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目标：评估销售额在不同区域的地理分布情况。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 各门店类型全指标分析：</a:t>
                      </a:r>
                    </a:p>
                    <a:p>
                      <a:pPr>
                        <a:lnSpc>
                          <a:spcPts val="2300"/>
                        </a:lnSpc>
                      </a:pP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   </a:t>
                      </a:r>
                      <a:r>
                        <a:rPr lang="zh-CN" altLang="en-US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目标：按不同门店类型拆解展示所有核心指标（总销售额、平均销售额、商品数量、平均评分），形成全方位数据视图。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726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597</TotalTime>
  <Words>718</Words>
  <Application>Microsoft Office PowerPoint</Application>
  <PresentationFormat>宽屏</PresentationFormat>
  <Paragraphs>55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黑体</vt:lpstr>
      <vt:lpstr>Arial</vt:lpstr>
      <vt:lpstr>Arial Rounded MT Bold</vt:lpstr>
      <vt:lpstr>Calibri</vt:lpstr>
      <vt:lpstr>Calibri Light</vt:lpstr>
      <vt:lpstr>Century Gothic</vt:lpstr>
      <vt:lpstr>Segoe UI Black</vt:lpstr>
      <vt:lpstr>Wingdings 3</vt:lpstr>
      <vt:lpstr>Office Theme</vt:lpstr>
      <vt:lpstr>离子</vt:lpstr>
      <vt:lpstr>Based power_bi in blinkit_indian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宇涵 杨</cp:lastModifiedBy>
  <cp:revision>24</cp:revision>
  <dcterms:created xsi:type="dcterms:W3CDTF">2024-06-24T12:27:37Z</dcterms:created>
  <dcterms:modified xsi:type="dcterms:W3CDTF">2026-05-18T10:40:23Z</dcterms:modified>
</cp:coreProperties>
</file>